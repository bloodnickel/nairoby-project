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bchynskyi Mykyta" userId="a582416d15533f1d" providerId="LiveId" clId="{13F68837-DDAE-4686-9A2C-546EB82ECD5E}"/>
    <pc:docChg chg="custSel addSld modSld sldOrd">
      <pc:chgData name="Riabchynskyi Mykyta" userId="a582416d15533f1d" providerId="LiveId" clId="{13F68837-DDAE-4686-9A2C-546EB82ECD5E}" dt="2026-04-16T11:11:17.068" v="743" actId="313"/>
      <pc:docMkLst>
        <pc:docMk/>
      </pc:docMkLst>
      <pc:sldChg chg="modSp mod">
        <pc:chgData name="Riabchynskyi Mykyta" userId="a582416d15533f1d" providerId="LiveId" clId="{13F68837-DDAE-4686-9A2C-546EB82ECD5E}" dt="2026-04-16T10:49:14.407" v="122" actId="14100"/>
        <pc:sldMkLst>
          <pc:docMk/>
          <pc:sldMk cId="3156176734" sldId="257"/>
        </pc:sldMkLst>
        <pc:spChg chg="mod">
          <ac:chgData name="Riabchynskyi Mykyta" userId="a582416d15533f1d" providerId="LiveId" clId="{13F68837-DDAE-4686-9A2C-546EB82ECD5E}" dt="2026-04-16T10:49:14.407" v="122" actId="14100"/>
          <ac:spMkLst>
            <pc:docMk/>
            <pc:sldMk cId="3156176734" sldId="257"/>
            <ac:spMk id="10" creationId="{2AD6DA2E-3695-4362-9D54-EFB3990DBAA5}"/>
          </ac:spMkLst>
        </pc:spChg>
        <pc:spChg chg="mod">
          <ac:chgData name="Riabchynskyi Mykyta" userId="a582416d15533f1d" providerId="LiveId" clId="{13F68837-DDAE-4686-9A2C-546EB82ECD5E}" dt="2026-04-16T10:46:11.633" v="112" actId="313"/>
          <ac:spMkLst>
            <pc:docMk/>
            <pc:sldMk cId="3156176734" sldId="257"/>
            <ac:spMk id="11" creationId="{802E31B3-79D1-47E1-8C62-5450D1548524}"/>
          </ac:spMkLst>
        </pc:spChg>
      </pc:sldChg>
      <pc:sldChg chg="modSp mod ord">
        <pc:chgData name="Riabchynskyi Mykyta" userId="a582416d15533f1d" providerId="LiveId" clId="{13F68837-DDAE-4686-9A2C-546EB82ECD5E}" dt="2026-04-16T11:11:17.068" v="743" actId="313"/>
        <pc:sldMkLst>
          <pc:docMk/>
          <pc:sldMk cId="1978588236" sldId="258"/>
        </pc:sldMkLst>
        <pc:spChg chg="mod">
          <ac:chgData name="Riabchynskyi Mykyta" userId="a582416d15533f1d" providerId="LiveId" clId="{13F68837-DDAE-4686-9A2C-546EB82ECD5E}" dt="2026-04-16T11:11:17.068" v="743" actId="313"/>
          <ac:spMkLst>
            <pc:docMk/>
            <pc:sldMk cId="1978588236" sldId="258"/>
            <ac:spMk id="2" creationId="{2816A02E-0C2E-4289-8212-B79CC832FB14}"/>
          </ac:spMkLst>
        </pc:spChg>
        <pc:spChg chg="mod">
          <ac:chgData name="Riabchynskyi Mykyta" userId="a582416d15533f1d" providerId="LiveId" clId="{13F68837-DDAE-4686-9A2C-546EB82ECD5E}" dt="2026-04-16T10:44:28.793" v="108" actId="20577"/>
          <ac:spMkLst>
            <pc:docMk/>
            <pc:sldMk cId="1978588236" sldId="258"/>
            <ac:spMk id="3" creationId="{783CBB58-157A-4B31-8CFB-646EAA3D2070}"/>
          </ac:spMkLst>
        </pc:spChg>
      </pc:sldChg>
      <pc:sldChg chg="modSp new mod">
        <pc:chgData name="Riabchynskyi Mykyta" userId="a582416d15533f1d" providerId="LiveId" clId="{13F68837-DDAE-4686-9A2C-546EB82ECD5E}" dt="2026-04-16T11:03:36.428" v="742" actId="20577"/>
        <pc:sldMkLst>
          <pc:docMk/>
          <pc:sldMk cId="421566367" sldId="259"/>
        </pc:sldMkLst>
        <pc:spChg chg="mod">
          <ac:chgData name="Riabchynskyi Mykyta" userId="a582416d15533f1d" providerId="LiveId" clId="{13F68837-DDAE-4686-9A2C-546EB82ECD5E}" dt="2026-04-16T10:50:28.256" v="197" actId="122"/>
          <ac:spMkLst>
            <pc:docMk/>
            <pc:sldMk cId="421566367" sldId="259"/>
            <ac:spMk id="2" creationId="{DF67D8AD-6288-4035-ABBC-0E9026C2D972}"/>
          </ac:spMkLst>
        </pc:spChg>
        <pc:spChg chg="mod">
          <ac:chgData name="Riabchynskyi Mykyta" userId="a582416d15533f1d" providerId="LiveId" clId="{13F68837-DDAE-4686-9A2C-546EB82ECD5E}" dt="2026-04-16T11:03:36.428" v="742" actId="20577"/>
          <ac:spMkLst>
            <pc:docMk/>
            <pc:sldMk cId="421566367" sldId="259"/>
            <ac:spMk id="3" creationId="{213A2165-3617-4DE4-B770-334B775916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98758-D175-4AB4-8CCA-BF15B47F2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3F314F-8F78-4AEE-8E2D-EEA1AC010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62A4F1-2404-458E-AE44-EDD1D9D1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7A7560-D6E5-4B9E-AFBD-0F26FF45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41BAC1-E75C-4A7F-A930-E5351253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682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4133E-0BDD-4E5A-9BAF-4429BF35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FE089-F0F8-4187-9192-B4553547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85D9C4-CB65-4A57-B10A-1F336468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655130-E737-4DF6-8E6D-5C297092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9DC517-10D4-4FD9-81F8-4F9CCD49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356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774C-FA32-42AD-9EE3-583A0326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F00B15-9855-4D2F-B848-E36097B9E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463B0C-D5A0-4346-83A7-B14C051B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107F93-EB55-40D8-8289-E6E968EF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79C8ED-58E5-4BCF-95BA-13556BC8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06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DED34-2F07-44DF-B9A8-027B21D3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2D4D45-627B-4806-9CD2-1A9B59804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795EC3-1016-4258-8645-B57D23A7B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4AC0D1-E37A-4945-B1F0-7F6CC939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65A655-BEE0-4555-8B4C-B4B1E534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D0C08C-E722-46FA-8EF5-C3FE9808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34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5414C-AE21-4027-850A-87AC0F9E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4EAD7-4C93-49BB-9E28-08B4D82EB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7ED65B-1EA4-4D76-B5C7-9BECE64B7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889DD5-8707-4C2D-BFA9-947963AA0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D12B0C-B239-4BE7-8F64-D17A7A6FB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C88C32-7A94-4C06-BB0D-13E8BBD5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FB38AA-46DA-49AC-8A3B-AA14E752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DAA1A7-67C8-4133-9B95-08EA86AA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7493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A8AD4-EE7E-4702-89F7-4256CAEB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5589C0-590B-4EC5-AA9E-CD4E28BCB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D30D59-AECB-44D4-9B34-76EC92DF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6CED70-7E5E-4771-A01D-952D46F0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7596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11CD32-D925-4391-B466-6FBD2261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28092E8-6BFE-4FEB-A62B-97709AF0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B4E62D-9B09-4A10-A420-656CB641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125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A2E1F-4F00-445C-B60B-E5542CA6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EA1D28-1D49-42A1-81F8-8B4A7FACF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22E693-4413-4ABE-9AA4-C4F62F7E3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A9C20E-6697-48BA-B046-7DF35E7B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5D9A5B-5BEA-4654-BB97-77A0D787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AF8842-6521-445B-BB2E-19547FD4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637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8B949-1DC6-4459-84F8-2D5FA7C70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BF7187-65EE-4ACA-BCDF-D22BAB27D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4EE592-F259-4FA5-B2B9-0697090DB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553839-60E7-4FA5-B860-9673CD23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A1E5D4-2189-47F2-912A-BBADD1E0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A2E425-DCA4-4BD3-90BF-84C351C7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014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E83D34-97D5-4053-9EE2-F9C080E4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F26670-242D-4C85-AC0C-F53A77B91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D80F12-9CD6-4CBD-93AA-D63DCA9C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D4751F-B2B5-49B2-898E-4385D352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5F35E4-0AAD-4893-AC52-7F7C48D2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400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4FAB582-72D7-402F-A754-8AFC82438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0C09F8-7772-4420-BE32-B0A75C8A5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240A14-F611-414D-AC7A-DB3D358F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A5C75E-2137-4B93-8EA1-B8520E06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C88291-C273-4581-8024-1008AB40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787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2ABB8-2EB8-414E-9E43-7E62A1AE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138AF3-B598-4281-9307-DBE1ED4AA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A96C70-53CB-4BEF-8A46-FD5D61182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68337-FA6E-4A23-AF26-09FE2C7E5E73}" type="datetimeFigureOut">
              <a:rPr lang="uk-UA" smtClean="0"/>
              <a:t>16.04.2026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5D871E-3B9C-404F-9D93-CC4F45829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722DB2-A15A-4B02-8609-DB7B155D3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17183-1FDD-490E-A3DC-E4AA90B2550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0988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16A02E-0C2E-4289-8212-B79CC832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Data Sources</a:t>
            </a:r>
            <a:endParaRPr lang="uk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3CBB58-157A-4B31-8CFB-646EAA3D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 err="1"/>
              <a:t>Downloadable</a:t>
            </a:r>
            <a:r>
              <a:rPr lang="de-DE" sz="2000" dirty="0"/>
              <a:t> </a:t>
            </a:r>
            <a:r>
              <a:rPr lang="de-DE" sz="2000" dirty="0" err="1"/>
              <a:t>dataframes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UN </a:t>
            </a:r>
            <a:r>
              <a:rPr lang="de-DE" sz="2000" dirty="0" err="1"/>
              <a:t>trading</a:t>
            </a:r>
            <a:r>
              <a:rPr lang="de-DE" sz="2000" dirty="0"/>
              <a:t> </a:t>
            </a:r>
            <a:r>
              <a:rPr lang="de-DE" sz="2000" dirty="0" err="1"/>
              <a:t>site</a:t>
            </a:r>
            <a:r>
              <a:rPr lang="de-DE" sz="2000" dirty="0"/>
              <a:t>   	   			</a:t>
            </a:r>
            <a:r>
              <a:rPr lang="de-DE" sz="2000" dirty="0">
                <a:solidFill>
                  <a:srgbClr val="00B050"/>
                </a:solidFill>
              </a:rPr>
              <a:t>[</a:t>
            </a:r>
            <a:r>
              <a:rPr lang="de-DE" sz="2000" dirty="0" err="1">
                <a:solidFill>
                  <a:srgbClr val="00B050"/>
                </a:solidFill>
              </a:rPr>
              <a:t>Accuracy</a:t>
            </a:r>
            <a:r>
              <a:rPr lang="de-DE" sz="2000" dirty="0">
                <a:solidFill>
                  <a:srgbClr val="00B050"/>
                </a:solidFill>
              </a:rPr>
              <a:t> = 90%]  </a:t>
            </a:r>
          </a:p>
          <a:p>
            <a:r>
              <a:rPr lang="de-DE" sz="2000" dirty="0"/>
              <a:t>AI </a:t>
            </a:r>
            <a:r>
              <a:rPr lang="de-DE" sz="2000" dirty="0" err="1"/>
              <a:t>scraped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strict</a:t>
            </a:r>
            <a:r>
              <a:rPr lang="de-DE" sz="2000" dirty="0"/>
              <a:t> </a:t>
            </a:r>
            <a:r>
              <a:rPr lang="de-DE" sz="2000" dirty="0" err="1"/>
              <a:t>rules</a:t>
            </a:r>
            <a:r>
              <a:rPr lang="de-DE" sz="2000" dirty="0"/>
              <a:t> 	 		    			</a:t>
            </a:r>
            <a:r>
              <a:rPr lang="de-DE" sz="2000" dirty="0">
                <a:solidFill>
                  <a:srgbClr val="FFC000"/>
                </a:solidFill>
              </a:rPr>
              <a:t>[</a:t>
            </a:r>
            <a:r>
              <a:rPr lang="de-DE" sz="2000" dirty="0" err="1">
                <a:solidFill>
                  <a:srgbClr val="FFC000"/>
                </a:solidFill>
              </a:rPr>
              <a:t>Accuracy</a:t>
            </a:r>
            <a:r>
              <a:rPr lang="de-DE" sz="2000" dirty="0">
                <a:solidFill>
                  <a:srgbClr val="FFC000"/>
                </a:solidFill>
              </a:rPr>
              <a:t> = 60%]</a:t>
            </a:r>
          </a:p>
          <a:p>
            <a:r>
              <a:rPr lang="de-DE" sz="2000" dirty="0" err="1"/>
              <a:t>Some</a:t>
            </a:r>
            <a:r>
              <a:rPr lang="de-DE" sz="2000" dirty="0"/>
              <a:t> </a:t>
            </a:r>
            <a:r>
              <a:rPr lang="de-DE" sz="2000" dirty="0" err="1"/>
              <a:t>manual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presentation</a:t>
            </a:r>
            <a:r>
              <a:rPr lang="de-DE" sz="2000" dirty="0"/>
              <a:t> and </a:t>
            </a:r>
            <a:r>
              <a:rPr lang="de-DE" sz="2000" dirty="0" err="1"/>
              <a:t>explanation</a:t>
            </a:r>
            <a:r>
              <a:rPr lang="de-DE" sz="2000" dirty="0"/>
              <a:t> </a:t>
            </a:r>
            <a:r>
              <a:rPr lang="de-DE" sz="2000" dirty="0" err="1"/>
              <a:t>purposes</a:t>
            </a:r>
            <a:r>
              <a:rPr lang="de-DE" sz="2000" dirty="0">
                <a:solidFill>
                  <a:srgbClr val="00B050"/>
                </a:solidFill>
              </a:rPr>
              <a:t> 		[</a:t>
            </a:r>
            <a:r>
              <a:rPr lang="de-DE" sz="2000" dirty="0" err="1">
                <a:solidFill>
                  <a:srgbClr val="00B050"/>
                </a:solidFill>
              </a:rPr>
              <a:t>Accuracy</a:t>
            </a:r>
            <a:r>
              <a:rPr lang="de-DE" sz="2000" dirty="0">
                <a:solidFill>
                  <a:srgbClr val="00B050"/>
                </a:solidFill>
              </a:rPr>
              <a:t> = 90%] </a:t>
            </a:r>
            <a:endParaRPr lang="de-DE" sz="2000" dirty="0">
              <a:solidFill>
                <a:srgbClr val="FFC000"/>
              </a:solidFill>
            </a:endParaRPr>
          </a:p>
          <a:p>
            <a:r>
              <a:rPr lang="de-DE" sz="2000" dirty="0"/>
              <a:t>Web </a:t>
            </a:r>
            <a:r>
              <a:rPr lang="de-DE" sz="2000" dirty="0" err="1"/>
              <a:t>scraping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description</a:t>
            </a:r>
            <a:r>
              <a:rPr lang="de-DE" sz="2000" dirty="0"/>
              <a:t> and </a:t>
            </a:r>
            <a:r>
              <a:rPr lang="de-DE" sz="2000" dirty="0" err="1"/>
              <a:t>images</a:t>
            </a:r>
            <a:r>
              <a:rPr lang="de-DE" sz="2000" dirty="0">
                <a:solidFill>
                  <a:srgbClr val="00B050"/>
                </a:solidFill>
              </a:rPr>
              <a:t> 		    			</a:t>
            </a:r>
            <a:r>
              <a:rPr lang="de-DE" sz="2000" dirty="0">
                <a:solidFill>
                  <a:srgbClr val="92D050"/>
                </a:solidFill>
              </a:rPr>
              <a:t>[</a:t>
            </a:r>
            <a:r>
              <a:rPr lang="de-DE" sz="2000" dirty="0" err="1">
                <a:solidFill>
                  <a:srgbClr val="92D050"/>
                </a:solidFill>
              </a:rPr>
              <a:t>Accuracy</a:t>
            </a:r>
            <a:r>
              <a:rPr lang="de-DE" sz="2000" dirty="0">
                <a:solidFill>
                  <a:srgbClr val="92D050"/>
                </a:solidFill>
              </a:rPr>
              <a:t> = 100%]</a:t>
            </a:r>
          </a:p>
          <a:p>
            <a:r>
              <a:rPr lang="de-DE" sz="2000" dirty="0"/>
              <a:t>API</a:t>
            </a:r>
            <a:r>
              <a:rPr lang="de-DE" sz="2000" dirty="0">
                <a:solidFill>
                  <a:srgbClr val="00B050"/>
                </a:solidFill>
              </a:rPr>
              <a:t>	</a:t>
            </a:r>
            <a:endParaRPr lang="uk-UA" sz="20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588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0072F1-2063-47C2-B84B-72128447E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510" y="431836"/>
            <a:ext cx="7909924" cy="29222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42F3E0-92B4-4A12-9159-6F54DB84B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510" y="3655127"/>
            <a:ext cx="7909924" cy="29222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C1EC21-F615-4603-9518-77379A4A8CC6}"/>
              </a:ext>
            </a:extLst>
          </p:cNvPr>
          <p:cNvSpPr txBox="1"/>
          <p:nvPr/>
        </p:nvSpPr>
        <p:spPr>
          <a:xfrm>
            <a:off x="6966811" y="3319244"/>
            <a:ext cx="202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Germany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D281-93FB-40AF-A693-6B812E078142}"/>
              </a:ext>
            </a:extLst>
          </p:cNvPr>
          <p:cNvSpPr txBox="1"/>
          <p:nvPr/>
        </p:nvSpPr>
        <p:spPr>
          <a:xfrm>
            <a:off x="6966811" y="6509085"/>
            <a:ext cx="202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UK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6BB816-C8F4-478C-9BB6-F29886E03078}"/>
              </a:ext>
            </a:extLst>
          </p:cNvPr>
          <p:cNvSpPr txBox="1"/>
          <p:nvPr/>
        </p:nvSpPr>
        <p:spPr>
          <a:xfrm>
            <a:off x="2630931" y="30478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/>
              <a:t>Interim</a:t>
            </a:r>
            <a:r>
              <a:rPr lang="uk-UA" dirty="0"/>
              <a:t> </a:t>
            </a:r>
            <a:r>
              <a:rPr lang="uk-UA" dirty="0" err="1"/>
              <a:t>data</a:t>
            </a:r>
            <a:r>
              <a:rPr lang="uk-UA" dirty="0"/>
              <a:t> </a:t>
            </a:r>
            <a:r>
              <a:rPr lang="uk-UA" dirty="0" err="1"/>
              <a:t>analysis</a:t>
            </a:r>
            <a:r>
              <a:rPr lang="uk-UA" dirty="0"/>
              <a:t> </a:t>
            </a:r>
            <a:r>
              <a:rPr lang="en-US" dirty="0"/>
              <a:t>regarding most common types of peppers </a:t>
            </a:r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32A7E6-27A8-4C34-809B-E7ACEF5773D0}"/>
              </a:ext>
            </a:extLst>
          </p:cNvPr>
          <p:cNvSpPr txBox="1"/>
          <p:nvPr/>
        </p:nvSpPr>
        <p:spPr>
          <a:xfrm>
            <a:off x="360947" y="614429"/>
            <a:ext cx="3447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Corruption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passport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country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Origin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Playing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EU </a:t>
            </a:r>
            <a:r>
              <a:rPr lang="de-DE" dirty="0" err="1"/>
              <a:t>regulations</a:t>
            </a:r>
            <a:endParaRPr lang="de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83938-1B64-4283-BAA2-F42CCE6E72F5}"/>
              </a:ext>
            </a:extLst>
          </p:cNvPr>
          <p:cNvSpPr txBox="1"/>
          <p:nvPr/>
        </p:nvSpPr>
        <p:spPr>
          <a:xfrm>
            <a:off x="360945" y="3663148"/>
            <a:ext cx="3447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updated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an </a:t>
            </a:r>
            <a:r>
              <a:rPr lang="de-DE" dirty="0" err="1"/>
              <a:t>accurate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And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incorrect</a:t>
            </a:r>
            <a:r>
              <a:rPr lang="de-DE" dirty="0"/>
              <a:t> </a:t>
            </a:r>
            <a:r>
              <a:rPr lang="de-DE" dirty="0" err="1"/>
              <a:t>visualisation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in a „</a:t>
            </a:r>
            <a:r>
              <a:rPr lang="de-DE" dirty="0" err="1"/>
              <a:t>bad</a:t>
            </a:r>
            <a:r>
              <a:rPr lang="de-DE" dirty="0"/>
              <a:t>“ </a:t>
            </a:r>
            <a:r>
              <a:rPr lang="de-DE" dirty="0" err="1"/>
              <a:t>position</a:t>
            </a:r>
            <a:endParaRPr lang="de-DE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07EC5D4-EAAA-4362-AB37-1ADABF990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43" y="1892407"/>
            <a:ext cx="2841451" cy="159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6,100+ Frustrated Man With Laptop Stock Photos, Pictures &amp; Royalty-Free  Images - iStock">
            <a:extLst>
              <a:ext uri="{FF2B5EF4-FFF2-40B4-BE49-F238E27FC236}">
                <a16:creationId xmlns:a16="http://schemas.microsoft.com/office/drawing/2014/main" id="{74C6C598-EADB-4FB4-A771-731C1DF93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61" y="4863477"/>
            <a:ext cx="2658416" cy="174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796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9332CD-EEAF-4913-9997-AD6061F3D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13" y="3429000"/>
            <a:ext cx="4646848" cy="31959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C4730D-AA42-45BD-AEC2-394DAA96F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243" y="316172"/>
            <a:ext cx="4646848" cy="31659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E4D428-5E00-4F7C-A5B7-1B1D758B7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11" y="3429000"/>
            <a:ext cx="4576503" cy="31659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D6DA2E-3695-4362-9D54-EFB3990DBAA5}"/>
              </a:ext>
            </a:extLst>
          </p:cNvPr>
          <p:cNvSpPr txBox="1"/>
          <p:nvPr/>
        </p:nvSpPr>
        <p:spPr>
          <a:xfrm>
            <a:off x="2470068" y="0"/>
            <a:ext cx="6765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Checking specific market players tendency and “ai Scraped” data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2E31B3-79D1-47E1-8C62-5450D1548524}"/>
              </a:ext>
            </a:extLst>
          </p:cNvPr>
          <p:cNvSpPr txBox="1"/>
          <p:nvPr/>
        </p:nvSpPr>
        <p:spPr>
          <a:xfrm>
            <a:off x="999508" y="606504"/>
            <a:ext cx="54191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Excluded</a:t>
            </a:r>
            <a:r>
              <a:rPr lang="de-DE" sz="1400" dirty="0"/>
              <a:t> </a:t>
            </a:r>
            <a:r>
              <a:rPr lang="de-DE" sz="1400" dirty="0" err="1"/>
              <a:t>main</a:t>
            </a:r>
            <a:r>
              <a:rPr lang="de-DE" sz="1400" dirty="0"/>
              <a:t> </a:t>
            </a:r>
            <a:r>
              <a:rPr lang="de-DE" sz="1400" dirty="0" err="1"/>
              <a:t>reexport</a:t>
            </a:r>
            <a:r>
              <a:rPr lang="de-DE" sz="1400" dirty="0"/>
              <a:t> </a:t>
            </a:r>
            <a:r>
              <a:rPr lang="de-DE" sz="1400" dirty="0" err="1"/>
              <a:t>players</a:t>
            </a:r>
            <a:r>
              <a:rPr lang="de-DE" sz="1400" dirty="0"/>
              <a:t> like Holland, Spain and France</a:t>
            </a:r>
            <a:endParaRPr lang="ru-RU" sz="1400" dirty="0"/>
          </a:p>
          <a:p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Excluded</a:t>
            </a:r>
            <a:r>
              <a:rPr lang="de-DE" sz="1400" dirty="0"/>
              <a:t> Turkey and </a:t>
            </a:r>
            <a:r>
              <a:rPr lang="de-DE" sz="1400" dirty="0" err="1"/>
              <a:t>Marocco</a:t>
            </a:r>
            <a:r>
              <a:rPr lang="de-DE" sz="1400" dirty="0"/>
              <a:t> </a:t>
            </a:r>
            <a:r>
              <a:rPr lang="de-DE" sz="1400" dirty="0" err="1"/>
              <a:t>as</a:t>
            </a:r>
            <a:r>
              <a:rPr lang="de-DE" sz="1400" dirty="0"/>
              <a:t> a </a:t>
            </a:r>
            <a:r>
              <a:rPr lang="de-DE" sz="1400" dirty="0" err="1"/>
              <a:t>big</a:t>
            </a:r>
            <a:r>
              <a:rPr lang="de-DE" sz="1400" dirty="0"/>
              <a:t> </a:t>
            </a:r>
            <a:r>
              <a:rPr lang="de-DE" sz="1400" dirty="0" err="1"/>
              <a:t>producers</a:t>
            </a:r>
            <a:endParaRPr lang="ru-RU" sz="1400" dirty="0"/>
          </a:p>
          <a:p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Bell </a:t>
            </a:r>
            <a:r>
              <a:rPr lang="de-DE" sz="1400" dirty="0" err="1"/>
              <a:t>peppers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 </a:t>
            </a:r>
            <a:r>
              <a:rPr lang="de-DE" sz="1400" dirty="0" err="1"/>
              <a:t>Belgium</a:t>
            </a:r>
            <a:r>
              <a:rPr lang="ru-RU" sz="1400" dirty="0"/>
              <a:t> ✅</a:t>
            </a:r>
          </a:p>
          <a:p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Habanero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 Israel ❌</a:t>
            </a:r>
            <a:endParaRPr lang="ru-RU" sz="1400" dirty="0"/>
          </a:p>
          <a:p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„</a:t>
            </a:r>
            <a:r>
              <a:rPr lang="de-DE" sz="1400" dirty="0" err="1"/>
              <a:t>Gulash</a:t>
            </a:r>
            <a:r>
              <a:rPr lang="de-DE" sz="1400" dirty="0"/>
              <a:t> </a:t>
            </a:r>
            <a:r>
              <a:rPr lang="de-DE" sz="1400" dirty="0" err="1"/>
              <a:t>pepper</a:t>
            </a:r>
            <a:r>
              <a:rPr lang="de-DE" sz="1400" dirty="0"/>
              <a:t>“ </a:t>
            </a:r>
            <a:r>
              <a:rPr lang="de-DE" sz="1400" dirty="0" err="1"/>
              <a:t>for</a:t>
            </a:r>
            <a:r>
              <a:rPr lang="de-DE" sz="1400" dirty="0"/>
              <a:t> Germany</a:t>
            </a:r>
            <a:r>
              <a:rPr lang="ru-RU" sz="1400" dirty="0"/>
              <a:t> ✅</a:t>
            </a:r>
            <a:endParaRPr lang="de-DE" sz="1400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5617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7D8AD-6288-4035-ABBC-0E9026C2D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Problems that we reached, lessons that we learned</a:t>
            </a:r>
            <a:endParaRPr lang="uk-UA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3A2165-3617-4DE4-B770-334B77591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“Trouble” list:</a:t>
            </a:r>
          </a:p>
          <a:p>
            <a:r>
              <a:rPr lang="en-US" sz="1800" dirty="0"/>
              <a:t>Pretty hard to find specific accurate data in limited time frames</a:t>
            </a:r>
          </a:p>
          <a:p>
            <a:r>
              <a:rPr lang="en-US" sz="1800" dirty="0"/>
              <a:t>Forming “monetizing” model is pretty hard, we went with informative one</a:t>
            </a:r>
          </a:p>
          <a:p>
            <a:pPr marL="0" indent="0">
              <a:buNone/>
            </a:pPr>
            <a:r>
              <a:rPr lang="en-US" sz="1800" dirty="0"/>
              <a:t>Lesson list:</a:t>
            </a:r>
          </a:p>
          <a:p>
            <a:r>
              <a:rPr lang="en-US" sz="1800" dirty="0"/>
              <a:t>Some statistic and results after analysis can be interpreted in a wrong way “speculation”</a:t>
            </a:r>
          </a:p>
          <a:p>
            <a:r>
              <a:rPr lang="en-US" sz="1800" dirty="0"/>
              <a:t>Incorrect data visualization can cause wrong conclusions</a:t>
            </a:r>
          </a:p>
          <a:p>
            <a:r>
              <a:rPr lang="en-US" sz="1800" dirty="0"/>
              <a:t>You can implement “data-check” or “self-check” using some open source thesis</a:t>
            </a:r>
          </a:p>
          <a:p>
            <a:pPr marL="0" indent="0">
              <a:buNone/>
            </a:pP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4215663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238</Words>
  <Application>Microsoft Office PowerPoint</Application>
  <PresentationFormat>Широкоэкранный</PresentationFormat>
  <Paragraphs>32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Data Sources</vt:lpstr>
      <vt:lpstr>Презентация PowerPoint</vt:lpstr>
      <vt:lpstr>Презентация PowerPoint</vt:lpstr>
      <vt:lpstr>Problems that we reached, lessons that we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Riabchynskyi Mykyta</dc:creator>
  <cp:lastModifiedBy>Riabchynskyi Mykyta</cp:lastModifiedBy>
  <cp:revision>11</cp:revision>
  <dcterms:created xsi:type="dcterms:W3CDTF">2026-04-16T09:35:41Z</dcterms:created>
  <dcterms:modified xsi:type="dcterms:W3CDTF">2026-04-16T16:14:50Z</dcterms:modified>
</cp:coreProperties>
</file>